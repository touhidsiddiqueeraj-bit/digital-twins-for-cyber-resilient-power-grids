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Papers</c:v>
                </c:pt>
              </c:strCache>
            </c:strRef>
          </c:tx>
          <c:dPt>
            <c:idx val="0"/>
            <c:spPr>
              <a:solidFill>
                <a:srgbClr val="119DA6"/>
              </a:solidFill>
            </c:spPr>
          </c:dPt>
          <c:dPt>
            <c:idx val="1"/>
            <c:spPr>
              <a:solidFill>
                <a:srgbClr val="173C5E"/>
              </a:solidFill>
            </c:spPr>
          </c:dPt>
          <c:dPt>
            <c:idx val="2"/>
            <c:spPr>
              <a:solidFill>
                <a:srgbClr val="9AB2C4"/>
              </a:solidFill>
            </c:spPr>
          </c:dPt>
          <c:dPt>
            <c:idx val="3"/>
            <c:spPr>
              <a:solidFill>
                <a:srgbClr val="C0503E"/>
              </a:solidFill>
            </c:spPr>
          </c:dPt>
          <c:dPt>
            <c:idx val="4"/>
            <c:spPr>
              <a:solidFill>
                <a:srgbClr val="E09B2D"/>
              </a:solidFill>
            </c:spPr>
          </c:dPt>
          <c:cat>
            <c:strRef>
              <c:f>Sheet1!$A$2:$A$6</c:f>
              <c:strCache>
                <c:ptCount val="5"/>
                <c:pt idx="0">
                  <c:v>Defensive</c:v>
                </c:pt>
                <c:pt idx="1">
                  <c:v>Review / survey</c:v>
                </c:pt>
                <c:pt idx="2">
                  <c:v>Enabling</c:v>
                </c:pt>
                <c:pt idx="3">
                  <c:v>Adversarial</c:v>
                </c:pt>
                <c:pt idx="4">
                  <c:v>Bridging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23</c:v>
                </c:pt>
                <c:pt idx="2">
                  <c:v>15</c:v>
                </c:pt>
                <c:pt idx="3">
                  <c:v>11</c:v>
                </c:pt>
                <c:pt idx="4">
                  <c:v>9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50">
                <a:solidFill>
                  <a:srgbClr val="0F2B46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Papers</c:v>
                </c:pt>
              </c:strCache>
            </c:strRef>
          </c:tx>
          <c:dPt>
            <c:idx val="0"/>
            <c:spPr>
              <a:solidFill>
                <a:srgbClr val="B6C7D4"/>
              </a:solidFill>
            </c:spPr>
          </c:dPt>
          <c:dPt>
            <c:idx val="1"/>
            <c:spPr>
              <a:solidFill>
                <a:srgbClr val="B6C7D4"/>
              </a:solidFill>
            </c:spPr>
          </c:dPt>
          <c:dPt>
            <c:idx val="2"/>
            <c:spPr>
              <a:solidFill>
                <a:srgbClr val="B6C7D4"/>
              </a:solidFill>
            </c:spPr>
          </c:dPt>
          <c:dPt>
            <c:idx val="3"/>
            <c:spPr>
              <a:solidFill>
                <a:srgbClr val="B6C7D4"/>
              </a:solidFill>
            </c:spPr>
          </c:dPt>
          <c:dPt>
            <c:idx val="4"/>
            <c:spPr>
              <a:solidFill>
                <a:srgbClr val="B6C7D4"/>
              </a:solidFill>
            </c:spPr>
          </c:dPt>
          <c:dPt>
            <c:idx val="5"/>
            <c:spPr>
              <a:solidFill>
                <a:srgbClr val="119DA6"/>
              </a:solidFill>
            </c:spPr>
          </c:dPt>
          <c:dPt>
            <c:idx val="6"/>
            <c:spPr>
              <a:solidFill>
                <a:srgbClr val="119DA6"/>
              </a:solidFill>
            </c:spPr>
          </c:dPt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5</c:v>
                </c:pt>
                <c:pt idx="2">
                  <c:v>2</c:v>
                </c:pt>
                <c:pt idx="3">
                  <c:v>8</c:v>
                </c:pt>
                <c:pt idx="4">
                  <c:v>8</c:v>
                </c:pt>
                <c:pt idx="5">
                  <c:v>31</c:v>
                </c:pt>
                <c:pt idx="6">
                  <c:v>45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>
                  <a:solidFill>
                    <a:srgbClr val="0F2B4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F2B46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847088"/>
            <a:ext cx="1463040" cy="91440"/>
          </a:xfrm>
          <a:prstGeom prst="rect">
            <a:avLst/>
          </a:prstGeom>
          <a:solidFill>
            <a:srgbClr val="119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19DA6"/>
                </a:solidFill>
                <a:latin typeface="Calibri"/>
              </a:rPr>
              <a:t>RESEARCH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500" b="1" i="0">
                <a:solidFill>
                  <a:srgbClr val="FFFFFF"/>
                </a:solidFill>
                <a:latin typeface="Calibri"/>
              </a:rPr>
              <a:t>Digital Twins for Cyber-Resilient Power Grids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73552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B9CDDC"/>
                </a:solidFill>
                <a:latin typeface="Calibri"/>
              </a:rPr>
              <a:t>A systematic review and research agenda for the AI-powered era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160520"/>
            <a:ext cx="2395728" cy="1051560"/>
          </a:xfrm>
          <a:prstGeom prst="roundRect">
            <a:avLst/>
          </a:prstGeom>
          <a:solidFill>
            <a:srgbClr val="173C5E"/>
          </a:solidFill>
          <a:ln w="9525">
            <a:solidFill>
              <a:srgbClr val="2C5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4279392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19DA6"/>
                </a:solidFill>
                <a:latin typeface="Calibri"/>
              </a:rPr>
              <a:t>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4700016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9CDDC"/>
                </a:solidFill>
                <a:latin typeface="Calibri"/>
              </a:rPr>
              <a:t>papers screened and included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4160520"/>
            <a:ext cx="2395728" cy="1051560"/>
          </a:xfrm>
          <a:prstGeom prst="roundRect">
            <a:avLst/>
          </a:prstGeom>
          <a:solidFill>
            <a:srgbClr val="173C5E"/>
          </a:solidFill>
          <a:ln w="9525">
            <a:solidFill>
              <a:srgbClr val="2C5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4279392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19DA6"/>
                </a:solidFill>
                <a:latin typeface="Calibri"/>
              </a:rPr>
              <a:t>2020–26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4700016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9CDDC"/>
                </a:solidFill>
                <a:latin typeface="Calibri"/>
              </a:rPr>
              <a:t>coverage window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9904" y="4160520"/>
            <a:ext cx="2395728" cy="1051560"/>
          </a:xfrm>
          <a:prstGeom prst="roundRect">
            <a:avLst/>
          </a:prstGeom>
          <a:solidFill>
            <a:srgbClr val="173C5E"/>
          </a:solidFill>
          <a:ln w="9525">
            <a:solidFill>
              <a:srgbClr val="2C5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4279392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19DA6"/>
                </a:solidFill>
                <a:latin typeface="Calibri"/>
              </a:rPr>
              <a:t>83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4700016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9CDDC"/>
                </a:solidFill>
                <a:latin typeface="Calibri"/>
              </a:rPr>
              <a:t>full texts retrieved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77656" y="4160520"/>
            <a:ext cx="2395728" cy="1051560"/>
          </a:xfrm>
          <a:prstGeom prst="roundRect">
            <a:avLst/>
          </a:prstGeom>
          <a:solidFill>
            <a:srgbClr val="173C5E"/>
          </a:solidFill>
          <a:ln w="9525">
            <a:solidFill>
              <a:srgbClr val="2C5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78824" y="4279392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19DA6"/>
                </a:solidFill>
                <a:latin typeface="Calibri"/>
              </a:rPr>
              <a:t>5.1%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78824" y="4700016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9CDDC"/>
                </a:solidFill>
                <a:latin typeface="Calibri"/>
              </a:rPr>
              <a:t>engage AI-specific threats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8064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FACC2"/>
                </a:solidFill>
                <a:latin typeface="Calibri"/>
              </a:rPr>
              <a:t>Prepared from a PRISMA-screened corpus 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02336"/>
            <a:ext cx="82296" cy="384048"/>
          </a:xfrm>
          <a:prstGeom prst="rect">
            <a:avLst/>
          </a:prstGeom>
          <a:solidFill>
            <a:srgbClr val="119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Motivation: why this,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B9CDDC"/>
                </a:solidFill>
                <a:latin typeface="Calibri"/>
              </a:rPr>
              <a:t>The grid is becoming software-defined — and software is attackable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65760"/>
            <a:ext cx="777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 i="0">
                <a:solidFill>
                  <a:srgbClr val="7FA6BE"/>
                </a:solidFill>
                <a:latin typeface="Calibri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11183112" cy="11430"/>
          </a:xfrm>
          <a:prstGeom prst="rect">
            <a:avLst/>
          </a:prstGeom>
          <a:solidFill>
            <a:srgbClr val="D5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C6B7A"/>
                </a:solidFill>
                <a:latin typeface="Calibri"/>
              </a:rPr>
              <a:t>Digital Twins for Cyber-Resilient Power Grids — research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6675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350" b="1">
                <a:solidFill>
                  <a:srgbClr val="119DA6"/>
                </a:solidFill>
                <a:latin typeface="Calibri"/>
              </a:rPr>
              <a:t>▪  </a:t>
            </a:r>
            <a:r>
              <a:rPr sz="1350" b="1">
                <a:solidFill>
                  <a:srgbClr val="0F2B46"/>
                </a:solidFill>
                <a:latin typeface="Calibri"/>
              </a:rPr>
              <a:t>Digitisation is accelerating. </a:t>
            </a:r>
            <a:r>
              <a:rPr sz="1350">
                <a:solidFill>
                  <a:srgbClr val="1E2A36"/>
                </a:solidFill>
                <a:latin typeface="Calibri"/>
              </a:rPr>
              <a:t>Smart meters, SCADA/DCS, distributed energy resources, EV charging and 5G/6G links widen the cyber-physical attack surface of the electricity grid.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350" b="1">
                <a:solidFill>
                  <a:srgbClr val="119DA6"/>
                </a:solidFill>
                <a:latin typeface="Calibri"/>
              </a:rPr>
              <a:t>▪  </a:t>
            </a:r>
            <a:r>
              <a:rPr sz="1350" b="1">
                <a:solidFill>
                  <a:srgbClr val="0F2B46"/>
                </a:solidFill>
                <a:latin typeface="Calibri"/>
              </a:rPr>
              <a:t>Digital twins are being deployed at scale. </a:t>
            </a:r>
            <a:r>
              <a:rPr sz="1350">
                <a:solidFill>
                  <a:srgbClr val="1E2A36"/>
                </a:solidFill>
                <a:latin typeface="Calibri"/>
              </a:rPr>
              <a:t>Grid operators use twins for monitoring, predictive control, resilience and operator training — the market is forecast to grow several-fold this decade.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350" b="1">
                <a:solidFill>
                  <a:srgbClr val="119DA6"/>
                </a:solidFill>
                <a:latin typeface="Calibri"/>
              </a:rPr>
              <a:t>▪  </a:t>
            </a:r>
            <a:r>
              <a:rPr sz="1350" b="1">
                <a:solidFill>
                  <a:srgbClr val="0F2B46"/>
                </a:solidFill>
                <a:latin typeface="Calibri"/>
              </a:rPr>
              <a:t>Twins are marketed as a security tool. </a:t>
            </a:r>
            <a:r>
              <a:rPr sz="1350">
                <a:solidFill>
                  <a:srgbClr val="1E2A36"/>
                </a:solidFill>
                <a:latin typeface="Calibri"/>
              </a:rPr>
              <a:t>They enable safe attack rehearsal and twin-vs-plant divergence detection.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350" b="1">
                <a:solidFill>
                  <a:srgbClr val="119DA6"/>
                </a:solidFill>
                <a:latin typeface="Calibri"/>
              </a:rPr>
              <a:t>▪  </a:t>
            </a:r>
            <a:r>
              <a:rPr sz="1350" b="1">
                <a:solidFill>
                  <a:srgbClr val="0F2B46"/>
                </a:solidFill>
                <a:latin typeface="Calibri"/>
              </a:rPr>
              <a:t>Offensive AI is maturing. </a:t>
            </a:r>
            <a:r>
              <a:rPr sz="1350">
                <a:solidFill>
                  <a:srgbClr val="1E2A36"/>
                </a:solidFill>
                <a:latin typeface="Calibri"/>
              </a:rPr>
              <a:t>Adaptive evasion, data poisoning, and LLM/agentic attack automation now target exactly the ML that modern defences rely on.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350" b="1">
                <a:solidFill>
                  <a:srgbClr val="119DA6"/>
                </a:solidFill>
                <a:latin typeface="Calibri"/>
              </a:rPr>
              <a:t>▪  </a:t>
            </a:r>
            <a:r>
              <a:rPr sz="1350" b="1">
                <a:solidFill>
                  <a:srgbClr val="0F2B46"/>
                </a:solidFill>
                <a:latin typeface="Calibri"/>
              </a:rPr>
              <a:t>The open question. </a:t>
            </a:r>
            <a:r>
              <a:rPr sz="1350">
                <a:solidFill>
                  <a:srgbClr val="1E2A36"/>
                </a:solidFill>
                <a:latin typeface="Calibri"/>
              </a:rPr>
              <a:t>Is grid-digital-twin defence keeping pace — or is it adopting AI faster than it models AI as the threat?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600200"/>
            <a:ext cx="4114800" cy="3383280"/>
          </a:xfrm>
          <a:prstGeom prst="roundRect">
            <a:avLst>
              <a:gd name="adj" fmla="val 5000"/>
            </a:avLst>
          </a:prstGeom>
          <a:solidFill>
            <a:srgbClr val="ECF6F7"/>
          </a:solidFill>
          <a:ln w="9525">
            <a:solidFill>
              <a:srgbClr val="119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7830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9DA6"/>
                </a:solidFill>
                <a:latin typeface="Calibri"/>
              </a:rPr>
              <a:t>TENSION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48840"/>
            <a:ext cx="36576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0F2B46"/>
                </a:solidFill>
                <a:latin typeface="Calibri"/>
              </a:rPr>
              <a:t>The digital twin is simultaneously the defence’s best sensor and a newly exposed attack surface — yet the two roles are almost never studied together.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02336"/>
            <a:ext cx="82296" cy="384048"/>
          </a:xfrm>
          <a:prstGeom prst="rect">
            <a:avLst/>
          </a:prstGeom>
          <a:solidFill>
            <a:srgbClr val="119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Problem statement and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B9CDDC"/>
                </a:solidFill>
                <a:latin typeface="Calibri"/>
              </a:rPr>
              <a:t>Defence has adopted AI faster than it has modelled AI — or the twin — as the 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65760"/>
            <a:ext cx="777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 i="0">
                <a:solidFill>
                  <a:srgbClr val="7FA6BE"/>
                </a:solidFill>
                <a:latin typeface="Calibri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11183112" cy="11430"/>
          </a:xfrm>
          <a:prstGeom prst="rect">
            <a:avLst/>
          </a:prstGeom>
          <a:solidFill>
            <a:srgbClr val="D5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C6B7A"/>
                </a:solidFill>
                <a:latin typeface="Calibri"/>
              </a:rPr>
              <a:t>Digital Twins for Cyber-Resilient Power Grids — research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371600"/>
            <a:ext cx="6720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350" b="1">
                <a:solidFill>
                  <a:srgbClr val="119DA6"/>
                </a:solidFill>
                <a:latin typeface="Calibri"/>
              </a:rPr>
              <a:t>▪  </a:t>
            </a:r>
            <a:r>
              <a:rPr sz="1350" b="1">
                <a:solidFill>
                  <a:srgbClr val="0F2B46"/>
                </a:solidFill>
                <a:latin typeface="Calibri"/>
              </a:rPr>
              <a:t>Defensive bias. </a:t>
            </a:r>
            <a:r>
              <a:rPr sz="1350">
                <a:solidFill>
                  <a:srgbClr val="1E2A36"/>
                </a:solidFill>
                <a:latin typeface="Calibri"/>
              </a:rPr>
              <a:t>The field builds detectors; far less work studies how those detectors and the twin itself can be attacked.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350" b="1">
                <a:solidFill>
                  <a:srgbClr val="119DA6"/>
                </a:solidFill>
                <a:latin typeface="Calibri"/>
              </a:rPr>
              <a:t>▪  </a:t>
            </a:r>
            <a:r>
              <a:rPr sz="1350" b="1">
                <a:solidFill>
                  <a:srgbClr val="0F2B46"/>
                </a:solidFill>
                <a:latin typeface="Calibri"/>
              </a:rPr>
              <a:t>Circular dependency. </a:t>
            </a:r>
            <a:r>
              <a:rPr sz="1350">
                <a:solidFill>
                  <a:srgbClr val="1E2A36"/>
                </a:solidFill>
                <a:latin typeface="Calibri"/>
              </a:rPr>
              <a:t>Twins are trusted to catch grid attacks while nothing checks attacks on the twin.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350" b="1">
                <a:solidFill>
                  <a:srgbClr val="119DA6"/>
                </a:solidFill>
                <a:latin typeface="Calibri"/>
              </a:rPr>
              <a:t>▪  </a:t>
            </a:r>
            <a:r>
              <a:rPr sz="1350" b="1">
                <a:solidFill>
                  <a:srgbClr val="0F2B46"/>
                </a:solidFill>
                <a:latin typeface="Calibri"/>
              </a:rPr>
              <a:t>Unmodelled adversary. </a:t>
            </a:r>
            <a:r>
              <a:rPr sz="1350">
                <a:solidFill>
                  <a:srgbClr val="1E2A36"/>
                </a:solidFill>
                <a:latin typeface="Calibri"/>
              </a:rPr>
              <a:t>Threat models remain classical (FDI, replay, DoS) — not adaptive or AI-enabled.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371600"/>
            <a:ext cx="4114800" cy="2103120"/>
          </a:xfrm>
          <a:prstGeom prst="roundRect">
            <a:avLst>
              <a:gd name="adj" fmla="val 5000"/>
            </a:avLst>
          </a:prstGeom>
          <a:solidFill>
            <a:srgbClr val="FCF0EE"/>
          </a:solidFill>
          <a:ln w="9525">
            <a:solidFill>
              <a:srgbClr val="C05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536192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0503E"/>
                </a:solidFill>
                <a:latin typeface="Calibri"/>
              </a:rPr>
              <a:t>EVIDENCE SNAPSHOT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874519"/>
            <a:ext cx="3657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0F2B46"/>
                </a:solidFill>
                <a:latin typeface="Calibri"/>
              </a:rPr>
              <a:t>Only 5.1% of relevant works (24 of 469) engage any AI/ML-specific attack vector.
In the top-100 corpus: adversarial ML 0 · evasion 0 · poisoning 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794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2B46"/>
                </a:solidFill>
                <a:latin typeface="Calibri"/>
              </a:rPr>
              <a:t>Toward a research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350" b="1">
                <a:solidFill>
                  <a:srgbClr val="E09B2D"/>
                </a:solidFill>
                <a:latin typeface="Calibri"/>
              </a:rPr>
              <a:t>▪  </a:t>
            </a:r>
            <a:r>
              <a:rPr sz="1350">
                <a:solidFill>
                  <a:srgbClr val="1E2A36"/>
                </a:solidFill>
                <a:latin typeface="Calibri"/>
              </a:rPr>
              <a:t>How do adversarial and defensive studies of grid digital twins compare in scope, threat model and evaluation?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350" b="1">
                <a:solidFill>
                  <a:srgbClr val="E09B2D"/>
                </a:solidFill>
                <a:latin typeface="Calibri"/>
              </a:rPr>
              <a:t>▪  </a:t>
            </a:r>
            <a:r>
              <a:rPr sz="1350">
                <a:solidFill>
                  <a:srgbClr val="1E2A36"/>
                </a:solidFill>
                <a:latin typeface="Calibri"/>
              </a:rPr>
              <a:t>And to what extent does the literature confront AI-enabled threats against the twins themselves?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02336"/>
            <a:ext cx="82296" cy="384048"/>
          </a:xfrm>
          <a:prstGeom prst="rect">
            <a:avLst/>
          </a:prstGeom>
          <a:solidFill>
            <a:srgbClr val="119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Research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B9CDDC"/>
                </a:solidFill>
                <a:latin typeface="Calibri"/>
              </a:rPr>
              <a:t>Four questions structure the review and the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65760"/>
            <a:ext cx="777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 i="0">
                <a:solidFill>
                  <a:srgbClr val="7FA6BE"/>
                </a:solidFill>
                <a:latin typeface="Calibri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11183112" cy="11430"/>
          </a:xfrm>
          <a:prstGeom prst="rect">
            <a:avLst/>
          </a:prstGeom>
          <a:solidFill>
            <a:srgbClr val="D5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C6B7A"/>
                </a:solidFill>
                <a:latin typeface="Calibri"/>
              </a:rPr>
              <a:t>Digital Twins for Cyber-Resilient Power Grids — research proposal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1097280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1682496"/>
            <a:ext cx="777240" cy="548640"/>
          </a:xfrm>
          <a:prstGeom prst="round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783080"/>
            <a:ext cx="777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RQ1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563624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19DA6"/>
                </a:solidFill>
                <a:latin typeface="Calibri"/>
              </a:rPr>
              <a:t>Landscape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1874519"/>
            <a:ext cx="9509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E2A36"/>
                </a:solidFill>
                <a:latin typeface="Calibri"/>
              </a:rPr>
              <a:t>What is the state of research on digital twins for power-grid cybersecurity — methods, threat models, venues and maturity?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633472"/>
            <a:ext cx="1097280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2898648"/>
            <a:ext cx="777240" cy="548640"/>
          </a:xfrm>
          <a:prstGeom prst="round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999232"/>
            <a:ext cx="777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RQ2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2779776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19DA6"/>
                </a:solidFill>
                <a:latin typeface="Calibri"/>
              </a:rPr>
              <a:t>Asymmetry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090672"/>
            <a:ext cx="9509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E2A36"/>
                </a:solidFill>
                <a:latin typeface="Calibri"/>
              </a:rPr>
              <a:t>How do adversarial (attack-focused) and defensive (detection/mitigation) studies differ in object of study, assumed adversary and evaluation?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849624"/>
            <a:ext cx="1097280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" y="4114800"/>
            <a:ext cx="777240" cy="548640"/>
          </a:xfrm>
          <a:prstGeom prst="round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215384"/>
            <a:ext cx="777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RQ3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3995928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19DA6"/>
                </a:solidFill>
                <a:latin typeface="Calibri"/>
              </a:rPr>
              <a:t>AI-era gap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306824"/>
            <a:ext cx="9509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E2A36"/>
                </a:solidFill>
                <a:latin typeface="Calibri"/>
              </a:rPr>
              <a:t>To what extent does the literature address AI-enabled threats (evasion, poisoning, LLM/agentic attacks) against grid digital twins?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5065776"/>
            <a:ext cx="1097280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" y="5330952"/>
            <a:ext cx="777240" cy="548640"/>
          </a:xfrm>
          <a:prstGeom prst="round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431536"/>
            <a:ext cx="777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RQ4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521208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19DA6"/>
                </a:solidFill>
                <a:latin typeface="Calibri"/>
              </a:rPr>
              <a:t>Agenda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5522976"/>
            <a:ext cx="9509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E2A36"/>
                </a:solidFill>
                <a:latin typeface="Calibri"/>
              </a:rPr>
              <a:t>What research priorities and safeguards would make grid digital twins robust in an AI-powered threat environment?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02336"/>
            <a:ext cx="82296" cy="384048"/>
          </a:xfrm>
          <a:prstGeom prst="rect">
            <a:avLst/>
          </a:prstGeom>
          <a:solidFill>
            <a:srgbClr val="119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Objectives and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777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 i="0">
                <a:solidFill>
                  <a:srgbClr val="7FA6BE"/>
                </a:solidFill>
                <a:latin typeface="Calibri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83112" cy="11430"/>
          </a:xfrm>
          <a:prstGeom prst="rect">
            <a:avLst/>
          </a:prstGeom>
          <a:solidFill>
            <a:srgbClr val="D5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C6B7A"/>
                </a:solidFill>
                <a:latin typeface="Calibri"/>
              </a:rPr>
              <a:t>Digital Twins for Cyber-Resilient Power Grids — research proposal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5577840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3619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9DA6"/>
                </a:solidFill>
                <a:latin typeface="Calibri"/>
              </a:rP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38528"/>
            <a:ext cx="5074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00" b="1">
                <a:solidFill>
                  <a:srgbClr val="119DA6"/>
                </a:solidFill>
                <a:latin typeface="Calibri"/>
              </a:rPr>
              <a:t>▪  </a:t>
            </a:r>
            <a:r>
              <a:rPr sz="1300">
                <a:solidFill>
                  <a:srgbClr val="1E2A36"/>
                </a:solidFill>
                <a:latin typeface="Calibri"/>
              </a:rPr>
              <a:t>Build a reproducible, PRISMA-screened corpus of digital-twin grid-cybersecurity research.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00" b="1">
                <a:solidFill>
                  <a:srgbClr val="119DA6"/>
                </a:solidFill>
                <a:latin typeface="Calibri"/>
              </a:rPr>
              <a:t>▪  </a:t>
            </a:r>
            <a:r>
              <a:rPr sz="1300">
                <a:solidFill>
                  <a:srgbClr val="1E2A36"/>
                </a:solidFill>
                <a:latin typeface="Calibri"/>
              </a:rPr>
              <a:t>Classify every study by stance: adversarial, defensive, bridging, review or enabling.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00" b="1">
                <a:solidFill>
                  <a:srgbClr val="119DA6"/>
                </a:solidFill>
                <a:latin typeface="Calibri"/>
              </a:rPr>
              <a:t>▪  </a:t>
            </a:r>
            <a:r>
              <a:rPr sz="1300">
                <a:solidFill>
                  <a:srgbClr val="1E2A36"/>
                </a:solidFill>
                <a:latin typeface="Calibri"/>
              </a:rPr>
              <a:t>Compare adversarial and defensive strands on a common analytical framework.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00" b="1">
                <a:solidFill>
                  <a:srgbClr val="119DA6"/>
                </a:solidFill>
                <a:latin typeface="Calibri"/>
              </a:rPr>
              <a:t>▪  </a:t>
            </a:r>
            <a:r>
              <a:rPr sz="1300">
                <a:solidFill>
                  <a:srgbClr val="1E2A36"/>
                </a:solidFill>
                <a:latin typeface="Calibri"/>
              </a:rPr>
              <a:t>Quantify engagement with AI-specific threats and identify blind spots.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00" b="1">
                <a:solidFill>
                  <a:srgbClr val="119DA6"/>
                </a:solidFill>
                <a:latin typeface="Calibri"/>
              </a:rPr>
              <a:t>▪  </a:t>
            </a:r>
            <a:r>
              <a:rPr sz="1300">
                <a:solidFill>
                  <a:srgbClr val="1E2A36"/>
                </a:solidFill>
                <a:latin typeface="Calibri"/>
              </a:rPr>
              <a:t>Derive a prioritised research agenda and design implications for operators.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371600"/>
            <a:ext cx="5166360" cy="4480560"/>
          </a:xfrm>
          <a:prstGeom prst="roundRect">
            <a:avLst>
              <a:gd name="adj" fmla="val 5000"/>
            </a:avLst>
          </a:prstGeom>
          <a:solidFill>
            <a:srgbClr val="F7F9FB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536192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9B2D"/>
                </a:solidFill>
                <a:latin typeface="Calibri"/>
              </a:rPr>
              <a:t>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938528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00" b="1">
                <a:solidFill>
                  <a:srgbClr val="E09B2D"/>
                </a:solidFill>
                <a:latin typeface="Calibri"/>
              </a:rPr>
              <a:t>▪  </a:t>
            </a:r>
            <a:r>
              <a:rPr sz="1300">
                <a:solidFill>
                  <a:srgbClr val="1E2A36"/>
                </a:solidFill>
                <a:latin typeface="Calibri"/>
              </a:rPr>
              <a:t>Window: 2020 – 2026, with in-press 2026 records retained.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00" b="1">
                <a:solidFill>
                  <a:srgbClr val="E09B2D"/>
                </a:solidFill>
                <a:latin typeface="Calibri"/>
              </a:rPr>
              <a:t>▪  </a:t>
            </a:r>
            <a:r>
              <a:rPr sz="1300">
                <a:solidFill>
                  <a:srgbClr val="1E2A36"/>
                </a:solidFill>
                <a:latin typeface="Calibri"/>
              </a:rPr>
              <a:t>Included: digital twin + power/grid + cyber/security.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00" b="1">
                <a:solidFill>
                  <a:srgbClr val="E09B2D"/>
                </a:solidFill>
                <a:latin typeface="Calibri"/>
              </a:rPr>
              <a:t>▪  </a:t>
            </a:r>
            <a:r>
              <a:rPr sz="1300">
                <a:solidFill>
                  <a:srgbClr val="1E2A36"/>
                </a:solidFill>
                <a:latin typeface="Calibri"/>
              </a:rPr>
              <a:t>Excluded: IT-only digital twins, non-grid energy, purely physical twins.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00" b="1">
                <a:solidFill>
                  <a:srgbClr val="E09B2D"/>
                </a:solidFill>
                <a:latin typeface="Calibri"/>
              </a:rPr>
              <a:t>▪  </a:t>
            </a:r>
            <a:r>
              <a:rPr sz="1300">
                <a:solidFill>
                  <a:srgbClr val="1E2A36"/>
                </a:solidFill>
                <a:latin typeface="Calibri"/>
              </a:rPr>
              <a:t>Sectors noted beyond the grid: nuclear (adversarial robustness), EV, telecom microgrids.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300" b="1">
                <a:solidFill>
                  <a:srgbClr val="E09B2D"/>
                </a:solidFill>
                <a:latin typeface="Calibri"/>
              </a:rPr>
              <a:t>▪  </a:t>
            </a:r>
            <a:r>
              <a:rPr sz="1300">
                <a:solidFill>
                  <a:srgbClr val="1E2A36"/>
                </a:solidFill>
                <a:latin typeface="Calibri"/>
              </a:rPr>
              <a:t>Units: peer-reviewed articles, conference papers, theses and technical reports.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02336"/>
            <a:ext cx="82296" cy="384048"/>
          </a:xfrm>
          <a:prstGeom prst="rect">
            <a:avLst/>
          </a:prstGeom>
          <a:solidFill>
            <a:srgbClr val="119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Background: the digital twin and the grid threat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777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 i="0">
                <a:solidFill>
                  <a:srgbClr val="7FA6BE"/>
                </a:solidFill>
                <a:latin typeface="Calibri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83112" cy="11430"/>
          </a:xfrm>
          <a:prstGeom prst="rect">
            <a:avLst/>
          </a:prstGeom>
          <a:solidFill>
            <a:srgbClr val="D5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C6B7A"/>
                </a:solidFill>
                <a:latin typeface="Calibri"/>
              </a:rPr>
              <a:t>Digital Twins for Cyber-Resilient Power Grids — research proposal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3611880" cy="4434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71600"/>
            <a:ext cx="3611880" cy="68580"/>
          </a:xfrm>
          <a:prstGeom prst="rect">
            <a:avLst/>
          </a:prstGeom>
          <a:solidFill>
            <a:srgbClr val="119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57276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19DA6"/>
                </a:solidFill>
                <a:latin typeface="Calibri"/>
              </a:rPr>
              <a:t>Digital twin anatomy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965960"/>
            <a:ext cx="312724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200" b="1">
                <a:solidFill>
                  <a:srgbClr val="119DA6"/>
                </a:solidFill>
                <a:latin typeface="Calibri"/>
              </a:rPr>
              <a:t>▪  </a:t>
            </a:r>
            <a:r>
              <a:rPr sz="1200">
                <a:solidFill>
                  <a:srgbClr val="1E2A36"/>
                </a:solidFill>
                <a:latin typeface="Calibri"/>
              </a:rPr>
              <a:t>A living model: physical asset + real-time data + bidirectional interaction.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200" b="1">
                <a:solidFill>
                  <a:srgbClr val="119DA6"/>
                </a:solidFill>
                <a:latin typeface="Calibri"/>
              </a:rPr>
              <a:t>▪  </a:t>
            </a:r>
            <a:r>
              <a:rPr sz="1200">
                <a:solidFill>
                  <a:srgbClr val="1E2A36"/>
                </a:solidFill>
                <a:latin typeface="Calibri"/>
              </a:rPr>
              <a:t>Grid twins span substations, DERs, protection relays, EV charging and markets.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200" b="1">
                <a:solidFill>
                  <a:srgbClr val="119DA6"/>
                </a:solidFill>
                <a:latin typeface="Calibri"/>
              </a:rPr>
              <a:t>▪  </a:t>
            </a:r>
            <a:r>
              <a:rPr sz="1200">
                <a:solidFill>
                  <a:srgbClr val="1E2A36"/>
                </a:solidFill>
                <a:latin typeface="Calibri"/>
              </a:rPr>
              <a:t>Deployed for monitoring, predictive control, resilience and education.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1371600"/>
            <a:ext cx="3611880" cy="4434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9976" y="1371600"/>
            <a:ext cx="3611880" cy="68580"/>
          </a:xfrm>
          <a:prstGeom prst="rect">
            <a:avLst/>
          </a:prstGeom>
          <a:solidFill>
            <a:srgbClr val="E0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157276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09B2D"/>
                </a:solidFill>
                <a:latin typeface="Calibri"/>
              </a:rPr>
              <a:t>Grid cyber-physical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1965960"/>
            <a:ext cx="312724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200" b="1">
                <a:solidFill>
                  <a:srgbClr val="E09B2D"/>
                </a:solidFill>
                <a:latin typeface="Calibri"/>
              </a:rPr>
              <a:t>▪  </a:t>
            </a:r>
            <a:r>
              <a:rPr sz="1200">
                <a:solidFill>
                  <a:srgbClr val="1E2A36"/>
                </a:solidFill>
                <a:latin typeface="Calibri"/>
              </a:rPr>
              <a:t>Attack surface: SCADA/DCS, AMI/meters, DER interfaces, comms and market data.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200" b="1">
                <a:solidFill>
                  <a:srgbClr val="E09B2D"/>
                </a:solidFill>
                <a:latin typeface="Calibri"/>
              </a:rPr>
              <a:t>▪  </a:t>
            </a:r>
            <a:r>
              <a:rPr sz="1200">
                <a:solidFill>
                  <a:srgbClr val="1E2A36"/>
                </a:solidFill>
                <a:latin typeface="Calibri"/>
              </a:rPr>
              <a:t>Known threats: False Data Injection, replay, DoS, supply-chain, APTs, hardware trojans.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200" b="1">
                <a:solidFill>
                  <a:srgbClr val="E09B2D"/>
                </a:solidFill>
                <a:latin typeface="Calibri"/>
              </a:rPr>
              <a:t>▪  </a:t>
            </a:r>
            <a:r>
              <a:rPr sz="1200">
                <a:solidFill>
                  <a:srgbClr val="1E2A36"/>
                </a:solidFill>
                <a:latin typeface="Calibri"/>
              </a:rPr>
              <a:t>Consequence: physical — outages, equipment damage, market manipulation.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65592" y="1371600"/>
            <a:ext cx="3611880" cy="4434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65592" y="1371600"/>
            <a:ext cx="3611880" cy="68580"/>
          </a:xfrm>
          <a:prstGeom prst="rect">
            <a:avLst/>
          </a:prstGeom>
          <a:solidFill>
            <a:srgbClr val="173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21624" y="157276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73C5E"/>
                </a:solidFill>
                <a:latin typeface="Calibri"/>
              </a:rPr>
              <a:t>Prior evidence 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1624" y="1965960"/>
            <a:ext cx="312724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200" b="1">
                <a:solidFill>
                  <a:srgbClr val="173C5E"/>
                </a:solidFill>
                <a:latin typeface="Calibri"/>
              </a:rPr>
              <a:t>▪  </a:t>
            </a:r>
            <a:r>
              <a:rPr sz="1200">
                <a:solidFill>
                  <a:srgbClr val="1E2A36"/>
                </a:solidFill>
                <a:latin typeface="Calibri"/>
              </a:rPr>
              <a:t>Electric-DT grid frameworks (2022) and IoT-DT microgrid resilience (2020) are heavily cited.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200" b="1">
                <a:solidFill>
                  <a:srgbClr val="173C5E"/>
                </a:solidFill>
                <a:latin typeface="Calibri"/>
              </a:rPr>
              <a:t>▪  </a:t>
            </a:r>
            <a:r>
              <a:rPr sz="1200">
                <a:solidFill>
                  <a:srgbClr val="1E2A36"/>
                </a:solidFill>
                <a:latin typeface="Calibri"/>
              </a:rPr>
              <a:t>Recent surveys emphasise AI, blockchain and co-simulation.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200" b="1">
                <a:solidFill>
                  <a:srgbClr val="173C5E"/>
                </a:solidFill>
                <a:latin typeface="Calibri"/>
              </a:rPr>
              <a:t>▪  </a:t>
            </a:r>
            <a:r>
              <a:rPr sz="1200">
                <a:solidFill>
                  <a:srgbClr val="1E2A36"/>
                </a:solidFill>
                <a:latin typeface="Calibri"/>
              </a:rPr>
              <a:t>Gap confirmed: surveys catalogue threats but rarely test author-labelled defences.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02336"/>
            <a:ext cx="82296" cy="384048"/>
          </a:xfrm>
          <a:prstGeom prst="rect">
            <a:avLst/>
          </a:prstGeom>
          <a:solidFill>
            <a:srgbClr val="119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Methodology: a PRISMA-style systematic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B9CDDC"/>
                </a:solidFill>
                <a:latin typeface="Calibri"/>
              </a:rPr>
              <a:t>Reported to PRISMA 2020 conventions; every stage reproducible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65760"/>
            <a:ext cx="777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 i="0">
                <a:solidFill>
                  <a:srgbClr val="7FA6BE"/>
                </a:solidFill>
                <a:latin typeface="Calibri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11183112" cy="11430"/>
          </a:xfrm>
          <a:prstGeom prst="rect">
            <a:avLst/>
          </a:prstGeom>
          <a:solidFill>
            <a:srgbClr val="D5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C6B7A"/>
                </a:solidFill>
                <a:latin typeface="Calibri"/>
              </a:rPr>
              <a:t>Digital Twins for Cyber-Resilient Power Grids — research proposal</a:t>
            </a:r>
          </a:p>
        </p:txBody>
      </p:sp>
      <p:sp>
        <p:nvSpPr>
          <p:cNvPr id="9" name="Pentagon 8"/>
          <p:cNvSpPr/>
          <p:nvPr/>
        </p:nvSpPr>
        <p:spPr>
          <a:xfrm>
            <a:off x="594360" y="1554480"/>
            <a:ext cx="2697480" cy="960120"/>
          </a:xfrm>
          <a:prstGeom prst="homePlate">
            <a:avLst/>
          </a:prstGeom>
          <a:solidFill>
            <a:srgbClr val="119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Identification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19DA6"/>
                </a:solidFill>
                <a:latin typeface="Calibri"/>
              </a:rPr>
              <a:t>1,287 unique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99232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C6B7A"/>
                </a:solidFill>
                <a:latin typeface="Calibri"/>
              </a:rPr>
              <a:t>12 core OpenAlex queries + adversarial-AI probes</a:t>
            </a:r>
          </a:p>
        </p:txBody>
      </p:sp>
      <p:sp>
        <p:nvSpPr>
          <p:cNvPr id="12" name="Pentagon 11"/>
          <p:cNvSpPr/>
          <p:nvPr/>
        </p:nvSpPr>
        <p:spPr>
          <a:xfrm>
            <a:off x="3410712" y="1554480"/>
            <a:ext cx="2697480" cy="960120"/>
          </a:xfrm>
          <a:prstGeom prst="homePlate">
            <a:avLst/>
          </a:prstGeom>
          <a:solidFill>
            <a:srgbClr val="173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Screening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260604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73C5E"/>
                </a:solidFill>
                <a:latin typeface="Calibri"/>
              </a:rPr>
              <a:t>492 eligible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2999232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C6B7A"/>
                </a:solidFill>
                <a:latin typeface="Calibri"/>
              </a:rPr>
              <a:t>title/abstract on DT + grid + security</a:t>
            </a:r>
          </a:p>
        </p:txBody>
      </p:sp>
      <p:sp>
        <p:nvSpPr>
          <p:cNvPr id="15" name="Pentagon 14"/>
          <p:cNvSpPr/>
          <p:nvPr/>
        </p:nvSpPr>
        <p:spPr>
          <a:xfrm>
            <a:off x="6227064" y="1554480"/>
            <a:ext cx="2697480" cy="960120"/>
          </a:xfrm>
          <a:prstGeom prst="homePlate">
            <a:avLst/>
          </a:prstGeom>
          <a:solidFill>
            <a:srgbClr val="E0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Eligibility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4" y="260604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E09B2D"/>
                </a:solidFill>
                <a:latin typeface="Calibri"/>
              </a:rPr>
              <a:t>100 retained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4" y="2999232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C6B7A"/>
                </a:solidFill>
                <a:latin typeface="Calibri"/>
              </a:rPr>
              <a:t>ranked by relevance, citations, recency</a:t>
            </a:r>
          </a:p>
        </p:txBody>
      </p:sp>
      <p:sp>
        <p:nvSpPr>
          <p:cNvPr id="18" name="Pentagon 17"/>
          <p:cNvSpPr/>
          <p:nvPr/>
        </p:nvSpPr>
        <p:spPr>
          <a:xfrm>
            <a:off x="9043416" y="1554480"/>
            <a:ext cx="2697480" cy="960120"/>
          </a:xfrm>
          <a:prstGeom prst="homePlate">
            <a:avLst/>
          </a:prstGeom>
          <a:solidFill>
            <a:srgbClr val="C05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Inclusion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89136" y="260604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C0503E"/>
                </a:solidFill>
                <a:latin typeface="Calibri"/>
              </a:rPr>
              <a:t>100 papers / 83 PDFs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89136" y="2999232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C6B7A"/>
                </a:solidFill>
                <a:latin typeface="Calibri"/>
              </a:rPr>
              <a:t>classified, venue-mapped, verified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886200"/>
            <a:ext cx="10972800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041648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9DA6"/>
                </a:solidFill>
                <a:latin typeface="Calibri"/>
              </a:rPr>
              <a:t>SOURCES, VERIFICATION AND 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407408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200" b="1">
                <a:solidFill>
                  <a:srgbClr val="119DA6"/>
                </a:solidFill>
                <a:latin typeface="Calibri"/>
              </a:rPr>
              <a:t>▪  </a:t>
            </a:r>
            <a:r>
              <a:rPr sz="1200">
                <a:solidFill>
                  <a:srgbClr val="1E2A36"/>
                </a:solidFill>
                <a:latin typeface="Calibri"/>
              </a:rPr>
              <a:t>Discovery: OpenAlex (+ Unpaywall, Semantic Scholar); literacy verification against Crossref and DataCite.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200" b="1">
                <a:solidFill>
                  <a:srgbClr val="119DA6"/>
                </a:solidFill>
                <a:latin typeface="Calibri"/>
              </a:rPr>
              <a:t>▪  </a:t>
            </a:r>
            <a:r>
              <a:rPr sz="1200">
                <a:solidFill>
                  <a:srgbClr val="1E2A36"/>
                </a:solidFill>
                <a:latin typeface="Calibri"/>
              </a:rPr>
              <a:t>Full-text retrieval: open-access PDFs harvested programmatically; browser-assisted recovery where publishers block automation.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200" b="1">
                <a:solidFill>
                  <a:srgbClr val="119DA6"/>
                </a:solidFill>
                <a:latin typeface="Calibri"/>
              </a:rPr>
              <a:t>▪  </a:t>
            </a:r>
            <a:r>
              <a:rPr sz="1200">
                <a:solidFill>
                  <a:srgbClr val="1E2A36"/>
                </a:solidFill>
                <a:latin typeface="Calibri"/>
              </a:rPr>
              <a:t>Analysis: automated stance tagging with manual adjudication; abstract- and full-text keyword profiling for AI-threat engagement.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02336"/>
            <a:ext cx="82296" cy="384048"/>
          </a:xfrm>
          <a:prstGeom prst="rect">
            <a:avLst/>
          </a:prstGeom>
          <a:solidFill>
            <a:srgbClr val="119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Corpus: from 1,287 records to 100 included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B9CDDC"/>
                </a:solidFill>
                <a:latin typeface="Calibri"/>
              </a:rPr>
              <a:t>Screening funnel with every exclusion accounted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65760"/>
            <a:ext cx="777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 i="0">
                <a:solidFill>
                  <a:srgbClr val="7FA6BE"/>
                </a:solidFill>
                <a:latin typeface="Calibri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11183112" cy="11430"/>
          </a:xfrm>
          <a:prstGeom prst="rect">
            <a:avLst/>
          </a:prstGeom>
          <a:solidFill>
            <a:srgbClr val="D5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C6B7A"/>
                </a:solidFill>
                <a:latin typeface="Calibri"/>
              </a:rPr>
              <a:t>Digital Twins for Cyber-Resilient Power Grids — research proposal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269748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3736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19DA6"/>
                </a:solidFill>
                <a:latin typeface="Calibri"/>
              </a:rPr>
              <a:t>1,287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95728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2B46"/>
                </a:solidFill>
                <a:latin typeface="Calibri"/>
              </a:rPr>
              <a:t>unique works identified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3464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C6B7A"/>
                </a:solidFill>
                <a:latin typeface="Calibri"/>
              </a:rPr>
              <a:t>from 12 OpenAlex queries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0712" y="1508760"/>
            <a:ext cx="269748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9312" y="173736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3C5E"/>
                </a:solidFill>
                <a:latin typeface="Calibri"/>
              </a:rPr>
              <a:t>492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2395728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2B46"/>
                </a:solidFill>
                <a:latin typeface="Calibri"/>
              </a:rPr>
              <a:t>eligible after screening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283464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C6B7A"/>
                </a:solidFill>
                <a:latin typeface="Calibri"/>
              </a:rPr>
              <a:t>795 excluded: no twin term or no grid domain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7064" y="1508760"/>
            <a:ext cx="269748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173736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09B2D"/>
                </a:solidFill>
                <a:latin typeface="Calibri"/>
              </a:rPr>
              <a:t>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395728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2B46"/>
                </a:solidFill>
                <a:latin typeface="Calibri"/>
              </a:rPr>
              <a:t>included in final corpus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283464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C6B7A"/>
                </a:solidFill>
                <a:latin typeface="Calibri"/>
              </a:rPr>
              <a:t>relevance + citation + recency ranking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43416" y="1508760"/>
            <a:ext cx="269748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72016" y="173736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C0503E"/>
                </a:solidFill>
                <a:latin typeface="Calibri"/>
              </a:rPr>
              <a:t>83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2016" y="2395728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2B46"/>
                </a:solidFill>
                <a:latin typeface="Calibri"/>
              </a:rPr>
              <a:t>full texts retrieved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72016" y="283464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C6B7A"/>
                </a:solidFill>
                <a:latin typeface="Calibri"/>
              </a:rPr>
              <a:t>open access, validated PDFs on disk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03320"/>
            <a:ext cx="1097280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858768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9B2D"/>
                </a:solidFill>
                <a:latin typeface="Calibri"/>
              </a:rPr>
              <a:t>INCLUSION AND QUALITY CONTROLS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224528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200" b="1">
                <a:solidFill>
                  <a:srgbClr val="E09B2D"/>
                </a:solidFill>
                <a:latin typeface="Calibri"/>
              </a:rPr>
              <a:t>▪  </a:t>
            </a:r>
            <a:r>
              <a:rPr sz="1200">
                <a:solidFill>
                  <a:srgbClr val="1E2A36"/>
                </a:solidFill>
                <a:latin typeface="Calibri"/>
              </a:rPr>
              <a:t>Every DOI verified against Crossref/DataCite with byte-exact title matching.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200" b="1">
                <a:solidFill>
                  <a:srgbClr val="E09B2D"/>
                </a:solidFill>
                <a:latin typeface="Calibri"/>
              </a:rPr>
              <a:t>▪  </a:t>
            </a:r>
            <a:r>
              <a:rPr sz="1200">
                <a:solidFill>
                  <a:srgbClr val="1E2A36"/>
                </a:solidFill>
                <a:latin typeface="Calibri"/>
              </a:rPr>
              <a:t>Two abstracts-flagged 2026 in-press records retained and re-verified.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224528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200" b="1">
                <a:solidFill>
                  <a:srgbClr val="E09B2D"/>
                </a:solidFill>
                <a:latin typeface="Calibri"/>
              </a:rPr>
              <a:t>▪  </a:t>
            </a:r>
            <a:r>
              <a:rPr sz="1200">
                <a:solidFill>
                  <a:srgbClr val="1E2A36"/>
                </a:solidFill>
                <a:latin typeface="Calibri"/>
              </a:rPr>
              <a:t>Venue labels corrected where OpenAlex metadata disagreed with the registry.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200" b="1">
                <a:solidFill>
                  <a:srgbClr val="E09B2D"/>
                </a:solidFill>
                <a:latin typeface="Calibri"/>
              </a:rPr>
              <a:t>▪  </a:t>
            </a:r>
            <a:r>
              <a:rPr sz="1200">
                <a:solidFill>
                  <a:srgbClr val="1E2A36"/>
                </a:solidFill>
                <a:latin typeface="Calibri"/>
              </a:rPr>
              <a:t>Anomalies logged: 3 DOI-less repository items, 1 non-resolving DOI.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02336"/>
            <a:ext cx="82296" cy="384048"/>
          </a:xfrm>
          <a:prstGeom prst="rect">
            <a:avLst/>
          </a:prstGeom>
          <a:solidFill>
            <a:srgbClr val="119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Corpus composition: the field is overwhelmingly defensive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777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 i="0">
                <a:solidFill>
                  <a:srgbClr val="7FA6BE"/>
                </a:solidFill>
                <a:latin typeface="Calibri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83112" cy="11430"/>
          </a:xfrm>
          <a:prstGeom prst="rect">
            <a:avLst/>
          </a:prstGeom>
          <a:solidFill>
            <a:srgbClr val="D5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C6B7A"/>
                </a:solidFill>
                <a:latin typeface="Calibri"/>
              </a:rPr>
              <a:t>Digital Twins for Cyber-Resilient Power Grids — research proposal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94360" y="1371600"/>
          <a:ext cx="60350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903720" y="1371600"/>
            <a:ext cx="4663440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78040" y="1536192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9DA6"/>
                </a:solidFill>
                <a:latin typeface="Calibri"/>
              </a:rPr>
              <a:t>READING THE DISTRIBUTION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920240"/>
            <a:ext cx="4160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250" b="1">
                <a:solidFill>
                  <a:srgbClr val="119DA6"/>
                </a:solidFill>
                <a:latin typeface="Calibri"/>
              </a:rPr>
              <a:t>▪  </a:t>
            </a:r>
            <a:r>
              <a:rPr sz="1250" b="1">
                <a:solidFill>
                  <a:srgbClr val="0F2B46"/>
                </a:solidFill>
                <a:latin typeface="Calibri"/>
              </a:rPr>
              <a:t>44 of 100 act on security. </a:t>
            </a:r>
            <a:r>
              <a:rPr sz="1250">
                <a:solidFill>
                  <a:srgbClr val="1E2A36"/>
                </a:solidFill>
                <a:latin typeface="Calibri"/>
              </a:rPr>
              <a:t>42 defensive plus 2 defensive-leaning bridging studies build or test protection.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250" b="1">
                <a:solidFill>
                  <a:srgbClr val="119DA6"/>
                </a:solidFill>
                <a:latin typeface="Calibri"/>
              </a:rPr>
              <a:t>▪  </a:t>
            </a:r>
            <a:r>
              <a:rPr sz="1250" b="1">
                <a:solidFill>
                  <a:srgbClr val="0F2B46"/>
                </a:solidFill>
                <a:latin typeface="Calibri"/>
              </a:rPr>
              <a:t>Only 11 are adversarial. </a:t>
            </a:r>
            <a:r>
              <a:rPr sz="1250">
                <a:solidFill>
                  <a:srgbClr val="1E2A36"/>
                </a:solidFill>
                <a:latin typeface="Calibri"/>
              </a:rPr>
              <a:t>1 in 4 security studies even asks how the twin could be broken.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250" b="1">
                <a:solidFill>
                  <a:srgbClr val="119DA6"/>
                </a:solidFill>
                <a:latin typeface="Calibri"/>
              </a:rPr>
              <a:t>▪  </a:t>
            </a:r>
            <a:r>
              <a:rPr sz="1250" b="1">
                <a:solidFill>
                  <a:srgbClr val="0F2B46"/>
                </a:solidFill>
                <a:latin typeface="Calibri"/>
              </a:rPr>
              <a:t>9 bridge the two. </a:t>
            </a:r>
            <a:r>
              <a:rPr sz="1250">
                <a:solidFill>
                  <a:srgbClr val="1E2A36"/>
                </a:solidFill>
                <a:latin typeface="Calibri"/>
              </a:rPr>
              <a:t>They pair a threat model with a detector or co-simulation testbed.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250" b="1">
                <a:solidFill>
                  <a:srgbClr val="119DA6"/>
                </a:solidFill>
                <a:latin typeface="Calibri"/>
              </a:rPr>
              <a:t>▪  </a:t>
            </a:r>
            <a:r>
              <a:rPr sz="1250" b="1">
                <a:solidFill>
                  <a:srgbClr val="0F2B46"/>
                </a:solidFill>
                <a:latin typeface="Calibri"/>
              </a:rPr>
              <a:t>38 report rather than act. </a:t>
            </a:r>
            <a:r>
              <a:rPr sz="1250">
                <a:solidFill>
                  <a:srgbClr val="1E2A36"/>
                </a:solidFill>
                <a:latin typeface="Calibri"/>
              </a:rPr>
              <a:t>Reviews and enabling studies catalogue the field.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02336"/>
            <a:ext cx="82296" cy="384048"/>
          </a:xfrm>
          <a:prstGeom prst="rect">
            <a:avLst/>
          </a:prstGeom>
          <a:solidFill>
            <a:srgbClr val="119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Corpus: venues, access and recency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777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 i="0">
                <a:solidFill>
                  <a:srgbClr val="7FA6BE"/>
                </a:solidFill>
                <a:latin typeface="Calibr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83112" cy="11430"/>
          </a:xfrm>
          <a:prstGeom prst="rect">
            <a:avLst/>
          </a:prstGeom>
          <a:solidFill>
            <a:srgbClr val="D5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C6B7A"/>
                </a:solidFill>
                <a:latin typeface="Calibri"/>
              </a:rPr>
              <a:t>Digital Twins for Cyber-Resilient Power Grids — research proposal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94360" y="1463040"/>
          <a:ext cx="64008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269480" y="1463040"/>
            <a:ext cx="429768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627632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9DA6"/>
                </a:solidFill>
                <a:latin typeface="Calibri"/>
              </a:rPr>
              <a:t>WHAT THE SHAPE TELLS 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993392"/>
            <a:ext cx="3886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250" b="1">
                <a:solidFill>
                  <a:srgbClr val="119DA6"/>
                </a:solidFill>
                <a:latin typeface="Calibri"/>
              </a:rPr>
              <a:t>▪  </a:t>
            </a:r>
            <a:r>
              <a:rPr sz="1250" b="1">
                <a:solidFill>
                  <a:srgbClr val="0F2B46"/>
                </a:solidFill>
                <a:latin typeface="Calibri"/>
              </a:rPr>
              <a:t>76% published in 2025–26. </a:t>
            </a:r>
            <a:r>
              <a:rPr sz="1250">
                <a:solidFill>
                  <a:srgbClr val="1E2A36"/>
                </a:solidFill>
                <a:latin typeface="Calibri"/>
              </a:rPr>
              <a:t>The field is young and accelerating; 2026 alone holds 45 papers.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250" b="1">
                <a:solidFill>
                  <a:srgbClr val="119DA6"/>
                </a:solidFill>
                <a:latin typeface="Calibri"/>
              </a:rPr>
              <a:t>▪  </a:t>
            </a:r>
            <a:r>
              <a:rPr sz="1250" b="1">
                <a:solidFill>
                  <a:srgbClr val="0F2B46"/>
                </a:solidFill>
                <a:latin typeface="Calibri"/>
              </a:rPr>
              <a:t>Venues are fragmented. </a:t>
            </a:r>
            <a:r>
              <a:rPr sz="1250">
                <a:solidFill>
                  <a:srgbClr val="1E2A36"/>
                </a:solidFill>
                <a:latin typeface="Calibri"/>
              </a:rPr>
              <a:t>100 papers across ~79 venues — no single dominant outlet.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250" b="1">
                <a:solidFill>
                  <a:srgbClr val="119DA6"/>
                </a:solidFill>
                <a:latin typeface="Calibri"/>
              </a:rPr>
              <a:t>▪  </a:t>
            </a:r>
            <a:r>
              <a:rPr sz="1250" b="1">
                <a:solidFill>
                  <a:srgbClr val="0F2B46"/>
                </a:solidFill>
                <a:latin typeface="Calibri"/>
              </a:rPr>
              <a:t>Access is uneven. </a:t>
            </a:r>
            <a:r>
              <a:rPr sz="1250">
                <a:solidFill>
                  <a:srgbClr val="1E2A36"/>
                </a:solidFill>
                <a:latin typeface="Calibri"/>
              </a:rPr>
              <a:t>83 full texts retrieved; 17 remain paywalled or bot-blocked.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250" b="1">
                <a:solidFill>
                  <a:srgbClr val="119DA6"/>
                </a:solidFill>
                <a:latin typeface="Calibri"/>
              </a:rPr>
              <a:t>▪  </a:t>
            </a:r>
            <a:r>
              <a:rPr sz="1250" b="1">
                <a:solidFill>
                  <a:srgbClr val="0F2B46"/>
                </a:solidFill>
                <a:latin typeface="Calibri"/>
              </a:rPr>
              <a:t>Implication. </a:t>
            </a:r>
            <a:r>
              <a:rPr sz="1250">
                <a:solidFill>
                  <a:srgbClr val="1E2A36"/>
                </a:solidFill>
                <a:latin typeface="Calibri"/>
              </a:rPr>
              <a:t>Recency plus fragmentation makes a systematic map genuinely useful.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02336"/>
            <a:ext cx="82296" cy="384048"/>
          </a:xfrm>
          <a:prstGeom prst="rect">
            <a:avLst/>
          </a:prstGeom>
          <a:solidFill>
            <a:srgbClr val="119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Preliminary findings: adversarial vs defensive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777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 i="0">
                <a:solidFill>
                  <a:srgbClr val="7FA6BE"/>
                </a:solidFill>
                <a:latin typeface="Calibr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83112" cy="11430"/>
          </a:xfrm>
          <a:prstGeom prst="rect">
            <a:avLst/>
          </a:prstGeom>
          <a:solidFill>
            <a:srgbClr val="D5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C6B7A"/>
                </a:solidFill>
                <a:latin typeface="Calibri"/>
              </a:rPr>
              <a:t>Digital Twins for Cyber-Resilient Power Grids — research proposal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371600"/>
          <a:ext cx="109728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343400"/>
                <a:gridCol w="4343400"/>
              </a:tblGrid>
              <a:tr h="600891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Adversarial papers (11)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Defensive papers (42)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2B46"/>
                          </a:solidFill>
                          <a:latin typeface="Calibri"/>
                        </a:rPr>
                        <a:t>Research question</a:t>
                      </a:r>
                    </a:p>
                  </a:txBody>
                  <a:tcPr anchor="ctr" marT="38100" marB="3810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A36"/>
                          </a:solidFill>
                          <a:latin typeface="Calibri"/>
                        </a:rPr>
                        <a:t>Can it be broken, and how?</a:t>
                      </a:r>
                    </a:p>
                  </a:txBody>
                  <a:tcPr anchor="ctr" marT="38100" marB="3810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A36"/>
                          </a:solidFill>
                          <a:latin typeface="Calibri"/>
                        </a:rPr>
                        <a:t>Can we catch or absorb it?</a:t>
                      </a:r>
                    </a:p>
                  </a:txBody>
                  <a:tcPr anchor="ctr" marT="38100" marB="38100">
                    <a:solidFill>
                      <a:srgbClr val="F3F6F9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2B46"/>
                          </a:solidFill>
                          <a:latin typeface="Calibri"/>
                        </a:rPr>
                        <a:t>Object of study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A36"/>
                          </a:solidFill>
                          <a:latin typeface="Calibri"/>
                        </a:rPr>
                        <a:t>The twin interface, threat model, attack chain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A36"/>
                          </a:solidFill>
                          <a:latin typeface="Calibri"/>
                        </a:rPr>
                        <a:t>The detector, controller, recovery loop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2B46"/>
                          </a:solidFill>
                          <a:latin typeface="Calibri"/>
                        </a:rPr>
                        <a:t>Role of the twin</a:t>
                      </a:r>
                    </a:p>
                  </a:txBody>
                  <a:tcPr anchor="ctr" marT="38100" marB="3810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A36"/>
                          </a:solidFill>
                          <a:latin typeface="Calibri"/>
                        </a:rPr>
                        <a:t>Target — its interface is the attack surface</a:t>
                      </a:r>
                    </a:p>
                  </a:txBody>
                  <a:tcPr anchor="ctr" marT="38100" marB="3810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A36"/>
                          </a:solidFill>
                          <a:latin typeface="Calibri"/>
                        </a:rPr>
                        <a:t>Sensor — twin-vs-plant divergence</a:t>
                      </a:r>
                    </a:p>
                  </a:txBody>
                  <a:tcPr anchor="ctr" marT="38100" marB="38100">
                    <a:solidFill>
                      <a:srgbClr val="F3F6F9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2B46"/>
                          </a:solidFill>
                          <a:latin typeface="Calibri"/>
                        </a:rPr>
                        <a:t>Adversary assumed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A36"/>
                          </a:solidFill>
                          <a:latin typeface="Calibri"/>
                        </a:rPr>
                        <a:t>Creative but classical (FDI, replay, DoS, APT)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A36"/>
                          </a:solidFill>
                          <a:latin typeface="Calibri"/>
                        </a:rPr>
                        <a:t>The same fixed catalogue of attacks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2B46"/>
                          </a:solidFill>
                          <a:latin typeface="Calibri"/>
                        </a:rPr>
                        <a:t>Evaluation</a:t>
                      </a:r>
                    </a:p>
                  </a:txBody>
                  <a:tcPr anchor="ctr" marT="38100" marB="3810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A36"/>
                          </a:solidFill>
                          <a:latin typeface="Calibri"/>
                        </a:rPr>
                        <a:t>Attack demonstrates a breach</a:t>
                      </a:r>
                    </a:p>
                  </a:txBody>
                  <a:tcPr anchor="ctr" marT="38100" marB="3810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A36"/>
                          </a:solidFill>
                          <a:latin typeface="Calibri"/>
                        </a:rPr>
                        <a:t>Detection accuracy vs a predefined attack set</a:t>
                      </a:r>
                    </a:p>
                  </a:txBody>
                  <a:tcPr anchor="ctr" marT="38100" marB="38100">
                    <a:solidFill>
                      <a:srgbClr val="F3F6F9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2B46"/>
                          </a:solidFill>
                          <a:latin typeface="Calibri"/>
                        </a:rPr>
                        <a:t>Hidden assumption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A36"/>
                          </a:solidFill>
                          <a:latin typeface="Calibri"/>
                        </a:rPr>
                        <a:t>Attackers adapt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A36"/>
                          </a:solidFill>
                          <a:latin typeface="Calibri"/>
                        </a:rPr>
                        <a:t>The twin’s data and model are trustworthy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" y="57150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9DA6"/>
                </a:solidFill>
                <a:latin typeface="Calibri"/>
              </a:rPr>
              <a:t>The two literatures barely share a threat model: one treats the twin as the thing to compromise, the other as the sensor that cannot lie.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02336"/>
            <a:ext cx="82296" cy="384048"/>
          </a:xfrm>
          <a:prstGeom prst="rect">
            <a:avLst/>
          </a:prstGeom>
          <a:solidFill>
            <a:srgbClr val="119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Preliminary findings: the AI-as-attacker blind spot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777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 i="0">
                <a:solidFill>
                  <a:srgbClr val="7FA6BE"/>
                </a:solidFill>
                <a:latin typeface="Calibri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83112" cy="11430"/>
          </a:xfrm>
          <a:prstGeom prst="rect">
            <a:avLst/>
          </a:prstGeom>
          <a:solidFill>
            <a:srgbClr val="D5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C6B7A"/>
                </a:solidFill>
                <a:latin typeface="Calibri"/>
              </a:rPr>
              <a:t>Digital Twins for Cyber-Resilient Power Grids — research proposal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63040"/>
            <a:ext cx="269748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63040"/>
            <a:ext cx="68580" cy="1600200"/>
          </a:xfrm>
          <a:prstGeom prst="rect">
            <a:avLst/>
          </a:prstGeom>
          <a:solidFill>
            <a:srgbClr val="C05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591056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C0503E"/>
                </a:solidFill>
                <a:latin typeface="Calibri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103120"/>
            <a:ext cx="2331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5C6B7A"/>
                </a:solidFill>
                <a:latin typeface="Calibri"/>
              </a:rPr>
              <a:t>works on adversarial ML or adversarial examples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1463040"/>
            <a:ext cx="269748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10712" y="1463040"/>
            <a:ext cx="68580" cy="1600200"/>
          </a:xfrm>
          <a:prstGeom prst="rect">
            <a:avLst/>
          </a:prstGeom>
          <a:solidFill>
            <a:srgbClr val="C05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1591056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C0503E"/>
                </a:solidFill>
                <a:latin typeface="Calibri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103120"/>
            <a:ext cx="2331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5C6B7A"/>
                </a:solidFill>
                <a:latin typeface="Calibri"/>
              </a:rPr>
              <a:t>works on evasion of ML-based detectors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7064" y="1463040"/>
            <a:ext cx="269748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7064" y="1463040"/>
            <a:ext cx="68580" cy="1600200"/>
          </a:xfrm>
          <a:prstGeom prst="rect">
            <a:avLst/>
          </a:prstGeom>
          <a:solidFill>
            <a:srgbClr val="C05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1591056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C0503E"/>
                </a:solidFill>
                <a:latin typeface="Calibri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2103120"/>
            <a:ext cx="2331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5C6B7A"/>
                </a:solidFill>
                <a:latin typeface="Calibri"/>
              </a:rPr>
              <a:t>works on data/​model poisoning or backdoors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43416" y="1463040"/>
            <a:ext cx="269748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43416" y="1463040"/>
            <a:ext cx="68580" cy="1600200"/>
          </a:xfrm>
          <a:prstGeom prst="rect">
            <a:avLst/>
          </a:prstGeom>
          <a:solidFill>
            <a:srgbClr val="E0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44584" y="1591056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09B2D"/>
                </a:solidFill>
                <a:latin typeface="Calibr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4584" y="2103120"/>
            <a:ext cx="2331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5C6B7A"/>
                </a:solidFill>
                <a:latin typeface="Calibri"/>
              </a:rPr>
              <a:t>work attacking the twin’s ML model (nuclear sector)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291840"/>
            <a:ext cx="1097280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456432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9DA6"/>
                </a:solidFill>
                <a:latin typeface="Calibri"/>
              </a:rPr>
              <a:t>WHAT THE CORPUS DOES AND DOES NOT COVER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822191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200" b="1">
                <a:solidFill>
                  <a:srgbClr val="119DA6"/>
                </a:solidFill>
                <a:latin typeface="Calibri"/>
              </a:rPr>
              <a:t>▪  </a:t>
            </a:r>
            <a:r>
              <a:rPr sz="1200" b="1">
                <a:solidFill>
                  <a:srgbClr val="0F2B46"/>
                </a:solidFill>
                <a:latin typeface="Calibri"/>
              </a:rPr>
              <a:t>5.1% engage AI-specific threats. </a:t>
            </a:r>
            <a:r>
              <a:rPr sz="1200">
                <a:solidFill>
                  <a:srgbClr val="1E2A36"/>
                </a:solidFill>
                <a:latin typeface="Calibri"/>
              </a:rPr>
              <a:t>Just 24 of 469 relevant works touch any adversarial-ML, poisoning or LLM vector.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200" b="1">
                <a:solidFill>
                  <a:srgbClr val="119DA6"/>
                </a:solidFill>
                <a:latin typeface="Calibri"/>
              </a:rPr>
              <a:t>▪  </a:t>
            </a:r>
            <a:r>
              <a:rPr sz="1200" b="1">
                <a:solidFill>
                  <a:srgbClr val="0F2B46"/>
                </a:solidFill>
                <a:latin typeface="Calibri"/>
              </a:rPr>
              <a:t>LLM-in-the-loop twins: 1 paper. </a:t>
            </a:r>
            <a:r>
              <a:rPr sz="1200">
                <a:solidFill>
                  <a:srgbClr val="1E2A36"/>
                </a:solidFill>
                <a:latin typeface="Calibri"/>
              </a:rPr>
              <a:t>Prompt injection and model extraction: absent.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822191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200" b="1">
                <a:solidFill>
                  <a:srgbClr val="119DA6"/>
                </a:solidFill>
                <a:latin typeface="Calibri"/>
              </a:rPr>
              <a:t>▪  </a:t>
            </a:r>
            <a:r>
              <a:rPr sz="1200" b="1">
                <a:solidFill>
                  <a:srgbClr val="0F2B46"/>
                </a:solidFill>
                <a:latin typeface="Calibri"/>
              </a:rPr>
              <a:t>Agentic adversaries: 2 papers. </a:t>
            </a:r>
            <a:r>
              <a:rPr sz="1200">
                <a:solidFill>
                  <a:srgbClr val="1E2A36"/>
                </a:solidFill>
                <a:latin typeface="Calibri"/>
              </a:rPr>
              <a:t>Autonomous/agentic attack automation is essentially unstudied for grids.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200" b="1">
                <a:solidFill>
                  <a:srgbClr val="119DA6"/>
                </a:solidFill>
                <a:latin typeface="Calibri"/>
              </a:rPr>
              <a:t>▪  </a:t>
            </a:r>
            <a:r>
              <a:rPr sz="1200" b="1">
                <a:solidFill>
                  <a:srgbClr val="0F2B46"/>
                </a:solidFill>
                <a:latin typeface="Calibri"/>
              </a:rPr>
              <a:t>Adversarial robustness exists — elsewhere. </a:t>
            </a:r>
            <a:r>
              <a:rPr sz="1200">
                <a:solidFill>
                  <a:srgbClr val="1E2A36"/>
                </a:solidFill>
                <a:latin typeface="Calibri"/>
              </a:rPr>
              <a:t>The strongest attack-on-model work is in nuclear digital twins, not electricity.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02336"/>
            <a:ext cx="82296" cy="384048"/>
          </a:xfrm>
          <a:prstGeom prst="rect">
            <a:avLst/>
          </a:prstGeom>
          <a:solidFill>
            <a:srgbClr val="119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Expected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B9CDDC"/>
                </a:solidFill>
                <a:latin typeface="Calibri"/>
              </a:rPr>
              <a:t>Hypotheses the completed review will test and quantify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65760"/>
            <a:ext cx="777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 i="0">
                <a:solidFill>
                  <a:srgbClr val="7FA6BE"/>
                </a:solidFill>
                <a:latin typeface="Calibri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11183112" cy="11430"/>
          </a:xfrm>
          <a:prstGeom prst="rect">
            <a:avLst/>
          </a:prstGeom>
          <a:solidFill>
            <a:srgbClr val="D5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C6B7A"/>
                </a:solidFill>
                <a:latin typeface="Calibri"/>
              </a:rPr>
              <a:t>Digital Twins for Cyber-Resilient Power Grids — research proposal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10972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68580" cy="1097280"/>
          </a:xfrm>
          <a:prstGeom prst="rect">
            <a:avLst/>
          </a:prstGeom>
          <a:solidFill>
            <a:srgbClr val="119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81912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19DA6"/>
                </a:solidFill>
                <a:latin typeface="Calibri"/>
              </a:rPr>
              <a:t>H1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563624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2B46"/>
                </a:solidFill>
                <a:latin typeface="Calibri"/>
              </a:rPr>
              <a:t>Structural defensive bias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1892808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E2A36"/>
                </a:solidFill>
                <a:latin typeface="Calibri"/>
              </a:rPr>
              <a:t>Security research on grid twins will remain ~4:1 defensive over adversarial, with attack studies concentrated in threat modelling rather than adversarial robustness.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624328"/>
            <a:ext cx="10972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2624328"/>
            <a:ext cx="68580" cy="1097280"/>
          </a:xfrm>
          <a:prstGeom prst="rect">
            <a:avLst/>
          </a:prstGeom>
          <a:solidFill>
            <a:srgbClr val="E0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7889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09B2D"/>
                </a:solidFill>
                <a:latin typeface="Calibri"/>
              </a:rPr>
              <a:t>H2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277063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2B46"/>
                </a:solidFill>
                <a:latin typeface="Calibri"/>
              </a:rPr>
              <a:t>Minimal AI-threat engagement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099816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E2A36"/>
                </a:solidFill>
                <a:latin typeface="Calibri"/>
              </a:rPr>
              <a:t>Fewer than ~10% of relevant studies will substantively model AI-enabled attacks; evasion and poisoning will be near-absent.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831336"/>
            <a:ext cx="10972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831336"/>
            <a:ext cx="68580" cy="1097280"/>
          </a:xfrm>
          <a:prstGeom prst="rect">
            <a:avLst/>
          </a:prstGeom>
          <a:solidFill>
            <a:srgbClr val="C05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995928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0503E"/>
                </a:solidFill>
                <a:latin typeface="Calibri"/>
              </a:rPr>
              <a:t>H3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39776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2B46"/>
                </a:solidFill>
                <a:latin typeface="Calibri"/>
              </a:rPr>
              <a:t>Trust boundary is unexamined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306824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E2A36"/>
                </a:solidFill>
                <a:latin typeface="Calibri"/>
              </a:rPr>
              <a:t>Detector-based defences will overwhelmingly assume trustworthy twin data and models, leaving the twin’s own ML as an unaudited attack surface.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5038344"/>
            <a:ext cx="10972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5038344"/>
            <a:ext cx="68580" cy="1097280"/>
          </a:xfrm>
          <a:prstGeom prst="rect">
            <a:avLst/>
          </a:prstGeom>
          <a:solidFill>
            <a:srgbClr val="173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20293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73C5E"/>
                </a:solidFill>
                <a:latin typeface="Calibri"/>
              </a:rPr>
              <a:t>H4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5184648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2B46"/>
                </a:solidFill>
                <a:latin typeface="Calibri"/>
              </a:rPr>
              <a:t>Imported practice, not home-grown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5513832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E2A36"/>
                </a:solidFill>
                <a:latin typeface="Calibri"/>
              </a:rPr>
              <a:t>Adversarial-robustness methods will appear first in adjacent critical sectors (nuclear, vehicles) and only belatedly transfer to electricity grids.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02336"/>
            <a:ext cx="82296" cy="384048"/>
          </a:xfrm>
          <a:prstGeom prst="rect">
            <a:avLst/>
          </a:prstGeom>
          <a:solidFill>
            <a:srgbClr val="119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Contributions and significance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777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 i="0">
                <a:solidFill>
                  <a:srgbClr val="7FA6BE"/>
                </a:solidFill>
                <a:latin typeface="Calibri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83112" cy="11430"/>
          </a:xfrm>
          <a:prstGeom prst="rect">
            <a:avLst/>
          </a:prstGeom>
          <a:solidFill>
            <a:srgbClr val="D5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C6B7A"/>
                </a:solidFill>
                <a:latin typeface="Calibri"/>
              </a:rPr>
              <a:t>Digital Twins for Cyber-Resilient Power Grids — research proposal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10972800" cy="8503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68580" cy="850392"/>
          </a:xfrm>
          <a:prstGeom prst="rect">
            <a:avLst/>
          </a:prstGeom>
          <a:solidFill>
            <a:srgbClr val="119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36192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2B46"/>
                </a:solidFill>
                <a:latin typeface="Calibri"/>
              </a:rPr>
              <a:t>A systematic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536192"/>
            <a:ext cx="7269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0" i="0">
                <a:solidFill>
                  <a:srgbClr val="1E2A36"/>
                </a:solidFill>
                <a:latin typeface="Calibri"/>
              </a:rPr>
              <a:t>The first PRISMA-reported review of digital twins specifically for power-grid cybersecurity, spanning 2020–2026.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386584"/>
            <a:ext cx="10972800" cy="8503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386584"/>
            <a:ext cx="68580" cy="850392"/>
          </a:xfrm>
          <a:prstGeom prst="rect">
            <a:avLst/>
          </a:prstGeom>
          <a:solidFill>
            <a:srgbClr val="173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505456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2B46"/>
                </a:solidFill>
                <a:latin typeface="Calibri"/>
              </a:rPr>
              <a:t>A reproducible corpus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505456"/>
            <a:ext cx="7269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0" i="0">
                <a:solidFill>
                  <a:srgbClr val="1E2A36"/>
                </a:solidFill>
                <a:latin typeface="Calibri"/>
              </a:rPr>
              <a:t>100 screened records with verified DOIs, venue mapping and 83 retrieved full texts — an auditable research artefact.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355848"/>
            <a:ext cx="10972800" cy="8503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355848"/>
            <a:ext cx="68580" cy="850392"/>
          </a:xfrm>
          <a:prstGeom prst="rect">
            <a:avLst/>
          </a:prstGeom>
          <a:solidFill>
            <a:srgbClr val="E0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474720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2B46"/>
                </a:solidFill>
                <a:latin typeface="Calibri"/>
              </a:rPr>
              <a:t>An adversarial–defensive framework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474720"/>
            <a:ext cx="7269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0" i="0">
                <a:solidFill>
                  <a:srgbClr val="1E2A36"/>
                </a:solidFill>
                <a:latin typeface="Calibri"/>
              </a:rPr>
              <a:t>A common analytical lens comparing threat models, evaluation practice and hidden assumptions across strands.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325112"/>
            <a:ext cx="10972800" cy="8503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4325112"/>
            <a:ext cx="68580" cy="850392"/>
          </a:xfrm>
          <a:prstGeom prst="rect">
            <a:avLst/>
          </a:prstGeom>
          <a:solidFill>
            <a:srgbClr val="C05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443984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2B46"/>
                </a:solidFill>
                <a:latin typeface="Calibri"/>
              </a:rPr>
              <a:t>A quantified gap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443984"/>
            <a:ext cx="7269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0" i="0">
                <a:solidFill>
                  <a:srgbClr val="1E2A36"/>
                </a:solidFill>
                <a:latin typeface="Calibri"/>
              </a:rPr>
              <a:t>The first measurement of how little grid-twin research engages AI-specific threats.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5294376"/>
            <a:ext cx="10972800" cy="8503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5294376"/>
            <a:ext cx="68580" cy="850392"/>
          </a:xfrm>
          <a:prstGeom prst="rect">
            <a:avLst/>
          </a:prstGeom>
          <a:solidFill>
            <a:srgbClr val="119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413248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2B46"/>
                </a:solidFill>
                <a:latin typeface="Calibri"/>
              </a:rPr>
              <a:t>A research agenda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5413248"/>
            <a:ext cx="7269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0" i="0">
                <a:solidFill>
                  <a:srgbClr val="1E2A36"/>
                </a:solidFill>
                <a:latin typeface="Calibri"/>
              </a:rPr>
              <a:t>Prioritised directions: adversarial-robust detectors, poisoning-resistant twins, and LLM/agent threat models for AI-in-the-loop twins.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02336"/>
            <a:ext cx="82296" cy="384048"/>
          </a:xfrm>
          <a:prstGeom prst="rect">
            <a:avLst/>
          </a:prstGeom>
          <a:solidFill>
            <a:srgbClr val="119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Roadmap, limitations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777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 i="0">
                <a:solidFill>
                  <a:srgbClr val="7FA6BE"/>
                </a:solidFill>
                <a:latin typeface="Calibri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83112" cy="11430"/>
          </a:xfrm>
          <a:prstGeom prst="rect">
            <a:avLst/>
          </a:prstGeom>
          <a:solidFill>
            <a:srgbClr val="D5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C6B7A"/>
                </a:solidFill>
                <a:latin typeface="Calibri"/>
              </a:rPr>
              <a:t>Digital Twins for Cyber-Resilient Power Grids — research proposal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6675120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36192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9DA6"/>
                </a:solidFill>
                <a:latin typeface="Calibri"/>
              </a:rPr>
              <a:t>WORK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1508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9DA6"/>
                </a:solidFill>
                <a:latin typeface="Calibri"/>
              </a:rPr>
              <a:t>Months 1–2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5728" y="1965960"/>
            <a:ext cx="4663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E2A36"/>
                </a:solidFill>
                <a:latin typeface="Calibri"/>
              </a:rPr>
              <a:t>Finalise corpus and screening log; publish reproducibility package.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715768"/>
            <a:ext cx="1508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9DA6"/>
                </a:solidFill>
                <a:latin typeface="Calibri"/>
              </a:rPr>
              <a:t>Months 3–5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2715768"/>
            <a:ext cx="4663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E2A36"/>
                </a:solidFill>
                <a:latin typeface="Calibri"/>
              </a:rPr>
              <a:t>Full-text extraction: threat model, method, evaluation, assumptions.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465575"/>
            <a:ext cx="1508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9DA6"/>
                </a:solidFill>
                <a:latin typeface="Calibri"/>
              </a:rPr>
              <a:t>Months 6–7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95728" y="3465575"/>
            <a:ext cx="4663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E2A36"/>
                </a:solidFill>
                <a:latin typeface="Calibri"/>
              </a:rPr>
              <a:t>Adversarial–defensive comparison and AI-threat coverage scoring.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215383"/>
            <a:ext cx="1508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9DA6"/>
                </a:solidFill>
                <a:latin typeface="Calibri"/>
              </a:rPr>
              <a:t>Months 8–9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4215383"/>
            <a:ext cx="4663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E2A36"/>
                </a:solidFill>
                <a:latin typeface="Calibri"/>
              </a:rPr>
              <a:t>Gap model: map unaddressed attack vectors to twin components.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965192"/>
            <a:ext cx="1508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9DA6"/>
                </a:solidFill>
                <a:latin typeface="Calibri"/>
              </a:rPr>
              <a:t>Months 10–12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4965192"/>
            <a:ext cx="4663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E2A36"/>
                </a:solidFill>
                <a:latin typeface="Calibri"/>
              </a:rPr>
              <a:t>Research agenda, expert validation, write-up and submission.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43800" y="1371600"/>
            <a:ext cx="4023360" cy="4480560"/>
          </a:xfrm>
          <a:prstGeom prst="roundRect">
            <a:avLst>
              <a:gd name="adj" fmla="val 5000"/>
            </a:avLst>
          </a:prstGeom>
          <a:solidFill>
            <a:srgbClr val="F7F9FB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20" y="1536192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9B2D"/>
                </a:solidFill>
                <a:latin typeface="Calibri"/>
              </a:rPr>
              <a:t>LIMITATIONS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1920240"/>
            <a:ext cx="3520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150" b="1">
                <a:solidFill>
                  <a:srgbClr val="E09B2D"/>
                </a:solidFill>
                <a:latin typeface="Calibri"/>
              </a:rPr>
              <a:t>▪  </a:t>
            </a:r>
            <a:r>
              <a:rPr sz="1150">
                <a:solidFill>
                  <a:srgbClr val="1E2A36"/>
                </a:solidFill>
                <a:latin typeface="Calibri"/>
              </a:rPr>
              <a:t>Metadata sourced from OpenAlex; venue labels occasionally disagree with registries.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150" b="1">
                <a:solidFill>
                  <a:srgbClr val="E09B2D"/>
                </a:solidFill>
                <a:latin typeface="Calibri"/>
              </a:rPr>
              <a:t>▪  </a:t>
            </a:r>
            <a:r>
              <a:rPr sz="1150">
                <a:solidFill>
                  <a:srgbClr val="1E2A36"/>
                </a:solidFill>
                <a:latin typeface="Calibri"/>
              </a:rPr>
              <a:t>Abstract-truncated profiling can under-count AI-threat terms; full-text pass will correct this.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150" b="1">
                <a:solidFill>
                  <a:srgbClr val="E09B2D"/>
                </a:solidFill>
                <a:latin typeface="Calibri"/>
              </a:rPr>
              <a:t>▪  </a:t>
            </a:r>
            <a:r>
              <a:rPr sz="1150">
                <a:solidFill>
                  <a:srgbClr val="1E2A36"/>
                </a:solidFill>
                <a:latin typeface="Calibri"/>
              </a:rPr>
              <a:t>Coverage is English-language and overwhelmingly journal-indexed.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150" b="1">
                <a:solidFill>
                  <a:srgbClr val="E09B2D"/>
                </a:solidFill>
                <a:latin typeface="Calibri"/>
              </a:rPr>
              <a:t>▪  </a:t>
            </a:r>
            <a:r>
              <a:rPr sz="1150">
                <a:solidFill>
                  <a:srgbClr val="1E2A36"/>
                </a:solidFill>
                <a:latin typeface="Calibri"/>
              </a:rPr>
              <a:t>Very recent in-press 2026 work may be under-represented.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331720"/>
            <a:ext cx="1463040" cy="91440"/>
          </a:xfrm>
          <a:prstGeom prst="rect">
            <a:avLst/>
          </a:prstGeom>
          <a:solidFill>
            <a:srgbClr val="119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19DA6"/>
                </a:solidFill>
                <a:latin typeface="Calibri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100 included studies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118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B9CDDC"/>
                </a:solidFill>
                <a:latin typeface="Calibri"/>
              </a:rPr>
              <a:t>DOIs verified against Crossref and DataCite  ·  83 full texts retrieved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02336"/>
            <a:ext cx="82296" cy="384048"/>
          </a:xfrm>
          <a:prstGeom prst="rect">
            <a:avLst/>
          </a:prstGeom>
          <a:solidFill>
            <a:srgbClr val="119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B9CDDC"/>
                </a:solidFill>
                <a:latin typeface="Calibri"/>
              </a:rPr>
              <a:t>DOIs of the 100 included studies — page 1 of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65760"/>
            <a:ext cx="777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 i="0">
                <a:solidFill>
                  <a:srgbClr val="7FA6BE"/>
                </a:solidFill>
                <a:latin typeface="Calibri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11183112" cy="11430"/>
          </a:xfrm>
          <a:prstGeom prst="rect">
            <a:avLst/>
          </a:prstGeom>
          <a:solidFill>
            <a:srgbClr val="D5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C6B7A"/>
                </a:solidFill>
                <a:latin typeface="Calibri"/>
              </a:rPr>
              <a:t>Digital Twins for Cyber-Resilient Power Grids — research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32588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 1. 10.3390/app16020981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 2. 10.1016/j.egyr.2026.109218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 3. 10.1016/j.rser.2026.116947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 4. 10.1109/access.2026.3674387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 5. 10.3390/electronics15091894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 6. 10.4018/979-8-3373-4159-0.ch009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 7. 10.1016/j.gloei.2026.01.002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 8. 10.1109/jsen.2026.3675872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 9. 10.1109/access.2026.3659724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10. 10.60097/acig/221493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11. 10.1007/s43926-026-00386-8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12. 10.34190/iccws.21.1.4467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13. 10.1007/s10207-026-01274-6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14. 10.33411/ijist/1995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15. 10.3390/electricity7030085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16. 10.3390/en19153643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17. 10.1016/j.seta.2026.105246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18. 10.63544/qcr0y085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19. 10.1016/j.ecmx.2026.102107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20. 10.5281/zenodo.22763194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32588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21. 10.3390/systems14101271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22. 10.15622/ia.25.3.8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23. 10.3390/app16157655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24. 10.3390/electronics15204701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25. 10.32362/2500-316x-2026-14-5-41-54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26. 10.33915/etd.13429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27. 10.1109/parc68365.2026.11453523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28. 10.35940/ijitee.k1309.15111026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29. (no DOI) Digitalization, electrification, and cyberse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30. 10.5281/zenodo.19999925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31. 10.3390/su18178724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32. 10.5281/zenodo.19666287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33. 10.20944/preprints202601.0392.v1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34. 10.3389/fmech.2026.1926649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35. 10.21474/ijar01/24257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36. 10.33042/2079-424x.2026.65.1.06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37. (no DOI) AI-Enabled Secure Digital Twin for Simulated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38. 10.20508/rrhh1109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39. 10.1016/j.rcns.2026.09.003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40. 10.1002/9781394474325.ch14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02336"/>
            <a:ext cx="82296" cy="384048"/>
          </a:xfrm>
          <a:prstGeom prst="rect">
            <a:avLst/>
          </a:prstGeom>
          <a:solidFill>
            <a:srgbClr val="119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B9CDDC"/>
                </a:solidFill>
                <a:latin typeface="Calibri"/>
              </a:rPr>
              <a:t>DOIs of the 100 included studies — page 2 of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65760"/>
            <a:ext cx="777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 i="0">
                <a:solidFill>
                  <a:srgbClr val="7FA6BE"/>
                </a:solidFill>
                <a:latin typeface="Calibri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11183112" cy="11430"/>
          </a:xfrm>
          <a:prstGeom prst="rect">
            <a:avLst/>
          </a:prstGeom>
          <a:solidFill>
            <a:srgbClr val="D5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C6B7A"/>
                </a:solidFill>
                <a:latin typeface="Calibri"/>
              </a:rPr>
              <a:t>Digital Twins for Cyber-Resilient Power Grids — research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32588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41. 10.3390/electronics15194522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42. 10.65102/is2026854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43. 10.51483/ijaiml.6.9s.2026.1975-1984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44. (no DOI) Advancements in Power System Automation: The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45. 10.33140/amlai.07.03.03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46. 10.1186/s42162-024-00461-w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47. 10.63125/4p25x993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48. 10.1016/j.rineng.2025.105850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49. 10.3390/s25164963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50. 10.1016/j.ecmx.2025.101329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51. 10.1109/access.2025.3623834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52. 10.3390/en18174599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53. 10.1016/j.enconman.2025.120728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54. 10.3390/en18123145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55. 10.70882/josrar.2025.v2i3.76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56. 10.3390/en18215593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57. 10.3390/en18226048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58. 10.1177/18479790251328183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59. 10.3390/smartcities8050142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60. 10.1201/9781003500391-7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32588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61. 10.33693/2313-223x-2025-12-4-116-123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62. 10.1109/access.2025.3648339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63. 10.20944/preprints202506.0030.v1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64. 10.1109/atee66006.2025.11299884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65. 10.30574/wjarr.2025.26.3.2233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66. 10.1109/gpecom65896.2025.11061955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67. 10.1109/eit64391.2025.11103680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68. 10.1145/3750069.3750102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69. 10.56726/irjmets81350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70. 10.82417/cc0h-fz32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71. 10.65923/avg24p53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72. 10.1109/ictaacs69003.2025.11399437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73. 10.1109/icecce67514.2025.11258064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74. 10.7302/25171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75. 10.52578/2305-9397-2025-3-5-328-336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76. 10.32628/cseit251234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77. 10.1016/j.ecmx.2024.100715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78. 10.1109/mpe.2023.3325196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79. 10.1109/ojcoms.2024.3502544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80. 10.1109/isap63260.2024.10744374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02336"/>
            <a:ext cx="82296" cy="384048"/>
          </a:xfrm>
          <a:prstGeom prst="rect">
            <a:avLst/>
          </a:prstGeom>
          <a:solidFill>
            <a:srgbClr val="119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B9CDDC"/>
                </a:solidFill>
                <a:latin typeface="Calibri"/>
              </a:rPr>
              <a:t>DOIs of the 100 included studies — page 3 of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65760"/>
            <a:ext cx="777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 i="0">
                <a:solidFill>
                  <a:srgbClr val="7FA6BE"/>
                </a:solidFill>
                <a:latin typeface="Calibri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11183112" cy="11430"/>
          </a:xfrm>
          <a:prstGeom prst="rect">
            <a:avLst/>
          </a:prstGeom>
          <a:solidFill>
            <a:srgbClr val="D5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C6B7A"/>
                </a:solidFill>
                <a:latin typeface="Calibri"/>
              </a:rPr>
              <a:t>Digital Twins for Cyber-Resilient Power Grids — research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32588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81. 10.1109/rws62797.2024.10799445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82. 10.1109/prdc63035.2024.00039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83. 10.1109/iecon55916.2024.10905313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84. 10.1109/oncon62778.2024.10931409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85. 10.1016/j.solener.2023.111921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86. 10.1109/tifs.2023.3305916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87. 10.3390/en16124590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88. 10.1109/smartgridcomm57358.2023.10333871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89. 10.3390/machines11030392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90. 10.46793/eee23-4.01s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32588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91. 10.2172/2337610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92. 10.2172/2331253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93. 10.1016/j.egyai.2022.100213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94. 10.48550/arxiv.2205.11783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95. 10.1109/naps50074.2021.9449682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96. 10.1109/stpec52385.2021.9718616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97. 10.1109/powercon53785.2021.9697764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98. 10.48550/arxiv.2105.04260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 99. 10.25148/etd.fidc009671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1E2A36"/>
                </a:solidFill>
                <a:latin typeface="Calibri"/>
              </a:rPr>
              <a:t>100. 10.1109/tsg.2020.3000958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